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  <p:sldMasterId id="214748366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  <p:embeddedFont>
      <p:font typeface="Manrope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11" Type="http://schemas.openxmlformats.org/officeDocument/2006/relationships/slide" Target="slides/slide5.xml"/><Relationship Id="rId22" Type="http://schemas.openxmlformats.org/officeDocument/2006/relationships/font" Target="fonts/Nunito-boldItalic.fntdata"/><Relationship Id="rId10" Type="http://schemas.openxmlformats.org/officeDocument/2006/relationships/slide" Target="slides/slide4.xml"/><Relationship Id="rId21" Type="http://schemas.openxmlformats.org/officeDocument/2006/relationships/font" Target="fonts/Nunito-italic.fntdata"/><Relationship Id="rId13" Type="http://schemas.openxmlformats.org/officeDocument/2006/relationships/slide" Target="slides/slide7.xml"/><Relationship Id="rId24" Type="http://schemas.openxmlformats.org/officeDocument/2006/relationships/font" Target="fonts/Manrope-bold.fntdata"/><Relationship Id="rId12" Type="http://schemas.openxmlformats.org/officeDocument/2006/relationships/slide" Target="slides/slide6.xml"/><Relationship Id="rId23" Type="http://schemas.openxmlformats.org/officeDocument/2006/relationships/font" Target="fonts/Manrop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Nunito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1f20bf982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1f20bf982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20b84797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20b84797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1f20bf982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1f20bf982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1f20bf982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1f20bf982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1f20bf982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1f20bf982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1f20bf982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1f20bf982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1f20bf982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1f20bf982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1f20bf982_0_5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1f20bf982_0_8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1f20bf982_0_12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1f20bf982_0_16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1f20bf982_0_28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G">
  <p:cSld name="TITLE_AND_BODY_2_1_1_1_1_1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>
            <p:ph idx="2" type="pic"/>
          </p:nvPr>
        </p:nvSpPr>
        <p:spPr>
          <a:xfrm>
            <a:off x="507438" y="1534500"/>
            <a:ext cx="30906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B">
  <p:cSld name="TITLE_AND_BODY_2_1_2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/>
          <p:nvPr>
            <p:ph idx="2" type="pic"/>
          </p:nvPr>
        </p:nvSpPr>
        <p:spPr>
          <a:xfrm>
            <a:off x="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5"/>
          <p:cNvSpPr txBox="1"/>
          <p:nvPr>
            <p:ph type="title"/>
          </p:nvPr>
        </p:nvSpPr>
        <p:spPr>
          <a:xfrm>
            <a:off x="5427950" y="289525"/>
            <a:ext cx="34059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5427950" y="1565672"/>
            <a:ext cx="34059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I">
  <p:cSld name="TITLE_AND_BODY_2_1_1_1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507456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6"/>
          <p:cNvSpPr/>
          <p:nvPr>
            <p:ph idx="2" type="pic"/>
          </p:nvPr>
        </p:nvSpPr>
        <p:spPr>
          <a:xfrm>
            <a:off x="5545950" y="1519300"/>
            <a:ext cx="3090600" cy="3090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A">
  <p:cSld name="TITLE_AND_BODY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type="title"/>
          </p:nvPr>
        </p:nvSpPr>
        <p:spPr>
          <a:xfrm>
            <a:off x="327575" y="340500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327575" y="1616646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F">
  <p:cSld name="TITLE_AND_BODY_2_1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50350" y="226400"/>
            <a:ext cx="3505500" cy="10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" type="body"/>
          </p:nvPr>
        </p:nvSpPr>
        <p:spPr>
          <a:xfrm>
            <a:off x="350350" y="1598500"/>
            <a:ext cx="3505500" cy="33186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8"/>
          <p:cNvSpPr/>
          <p:nvPr>
            <p:ph idx="2" type="pic"/>
          </p:nvPr>
        </p:nvSpPr>
        <p:spPr>
          <a:xfrm>
            <a:off x="4101622" y="226350"/>
            <a:ext cx="4690800" cy="4690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J">
  <p:cSld name="TITLE_AND_BODY_2_1_1_1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/>
          <p:nvPr>
            <p:ph idx="2" type="pic"/>
          </p:nvPr>
        </p:nvSpPr>
        <p:spPr>
          <a:xfrm>
            <a:off x="457200" y="1519300"/>
            <a:ext cx="3090600" cy="3090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76" name="Google Shape;76;p19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TITLEANDBULLETS_B">
  <p:cSld name="CUSTOM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/>
          <p:nvPr>
            <p:ph idx="2" type="pic"/>
          </p:nvPr>
        </p:nvSpPr>
        <p:spPr>
          <a:xfrm>
            <a:off x="301750" y="2276800"/>
            <a:ext cx="2533200" cy="2532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0" name="Google Shape;80;p20"/>
          <p:cNvSpPr txBox="1"/>
          <p:nvPr>
            <p:ph type="title"/>
          </p:nvPr>
        </p:nvSpPr>
        <p:spPr>
          <a:xfrm>
            <a:off x="301750" y="310900"/>
            <a:ext cx="26982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/>
        </p:nvSpPr>
        <p:spPr>
          <a:xfrm>
            <a:off x="3252541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2" name="Google Shape;82;p20"/>
          <p:cNvSpPr txBox="1"/>
          <p:nvPr/>
        </p:nvSpPr>
        <p:spPr>
          <a:xfrm>
            <a:off x="3252541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3" name="Google Shape;83;p20"/>
          <p:cNvSpPr txBox="1"/>
          <p:nvPr/>
        </p:nvSpPr>
        <p:spPr>
          <a:xfrm>
            <a:off x="6160333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4" name="Google Shape;84;p20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3" type="body"/>
          </p:nvPr>
        </p:nvSpPr>
        <p:spPr>
          <a:xfrm>
            <a:off x="6647122" y="374904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4" type="body"/>
          </p:nvPr>
        </p:nvSpPr>
        <p:spPr>
          <a:xfrm>
            <a:off x="6647122" y="2093976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20"/>
          <p:cNvSpPr txBox="1"/>
          <p:nvPr/>
        </p:nvSpPr>
        <p:spPr>
          <a:xfrm>
            <a:off x="6160333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8" name="Google Shape;88;p20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Quarterly business review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84700" y="1782325"/>
            <a:ext cx="42873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type="title"/>
          </p:nvPr>
        </p:nvSpPr>
        <p:spPr>
          <a:xfrm>
            <a:off x="283475" y="420225"/>
            <a:ext cx="73233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00">
          <p15:clr>
            <a:schemeClr val="accent3"/>
          </p15:clr>
        </p15:guide>
        <p15:guide id="2" orient="horz" pos="300">
          <p15:clr>
            <a:schemeClr val="accent3"/>
          </p15:clr>
        </p15:guide>
        <p15:guide id="3" orient="horz" pos="899">
          <p15:clr>
            <a:schemeClr val="accent3"/>
          </p15:clr>
        </p15:guide>
        <p15:guide id="4" pos="1561">
          <p15:clr>
            <a:schemeClr val="accent3"/>
          </p15:clr>
        </p15:guide>
        <p15:guide id="5" pos="1619">
          <p15:clr>
            <a:schemeClr val="accent3"/>
          </p15:clr>
        </p15:guide>
        <p15:guide id="6" orient="horz" pos="962">
          <p15:clr>
            <a:schemeClr val="accent3"/>
          </p15:clr>
        </p15:guide>
        <p15:guide id="7" orient="horz" pos="1561">
          <p15:clr>
            <a:schemeClr val="accent3"/>
          </p15:clr>
        </p15:guide>
        <p15:guide id="8" orient="horz" pos="1619">
          <p15:clr>
            <a:schemeClr val="accent3"/>
          </p15:clr>
        </p15:guide>
        <p15:guide id="9" orient="horz" pos="2281">
          <p15:clr>
            <a:schemeClr val="accent3"/>
          </p15:clr>
        </p15:guide>
        <p15:guide id="10" orient="horz" pos="2339">
          <p15:clr>
            <a:schemeClr val="accent3"/>
          </p15:clr>
        </p15:guide>
        <p15:guide id="11" orient="horz" pos="2943">
          <p15:clr>
            <a:schemeClr val="accent3"/>
          </p15:clr>
        </p15:guide>
        <p15:guide id="12" pos="1981">
          <p15:clr>
            <a:schemeClr val="accent5"/>
          </p15:clr>
        </p15:guide>
        <p15:guide id="13" pos="2039">
          <p15:clr>
            <a:schemeClr val="accent5"/>
          </p15:clr>
        </p15:guide>
        <p15:guide id="14" pos="2880">
          <p15:clr>
            <a:schemeClr val="accent3"/>
          </p15:clr>
        </p15:guide>
        <p15:guide id="15" pos="2938">
          <p15:clr>
            <a:schemeClr val="accent3"/>
          </p15:clr>
        </p15:guide>
        <p15:guide id="16" pos="3721">
          <p15:clr>
            <a:schemeClr val="accent5"/>
          </p15:clr>
        </p15:guide>
        <p15:guide id="17" pos="3779">
          <p15:clr>
            <a:schemeClr val="accent5"/>
          </p15:clr>
        </p15:guide>
        <p15:guide id="18" pos="4141">
          <p15:clr>
            <a:schemeClr val="accent3"/>
          </p15:clr>
        </p15:guide>
        <p15:guide id="19" pos="4199">
          <p15:clr>
            <a:schemeClr val="accent3"/>
          </p15:clr>
        </p15:guide>
        <p15:guide id="20" pos="5460">
          <p15:clr>
            <a:schemeClr val="accent3"/>
          </p15:clr>
        </p15:guide>
        <p15:guide id="21" pos="179">
          <p15:clr>
            <a:schemeClr val="accent1"/>
          </p15:clr>
        </p15:guide>
        <p15:guide id="22" pos="5581">
          <p15:clr>
            <a:schemeClr val="accent1"/>
          </p15:clr>
        </p15:guide>
        <p15:guide id="23" orient="horz" pos="179">
          <p15:clr>
            <a:schemeClr val="accent1"/>
          </p15:clr>
        </p15:guide>
        <p15:guide id="24" orient="horz" pos="3059">
          <p15:clr>
            <a:schemeClr val="accent1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jorar esta diapositiva" id="94" name="Google Shape;9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3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-35700" y="0"/>
            <a:ext cx="9210675" cy="5143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4"/>
          <p:cNvPicPr preferRelativeResize="0"/>
          <p:nvPr/>
        </p:nvPicPr>
        <p:blipFill rotWithShape="1">
          <a:blip r:embed="rId3">
            <a:alphaModFix/>
          </a:blip>
          <a:srcRect b="0" l="30" r="20" t="0"/>
          <a:stretch/>
        </p:blipFill>
        <p:spPr>
          <a:xfrm>
            <a:off x="-35700" y="0"/>
            <a:ext cx="9210675" cy="5147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jorar esta diapositiva" id="109" name="Google Shape;10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jorar esta diapositiva" id="114" name="Google Shape;11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jorar esta diapositiva" id="119" name="Google Shape;11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jorar esta diapositiva" id="124" name="Google Shape;12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 txBox="1"/>
          <p:nvPr>
            <p:ph type="title"/>
          </p:nvPr>
        </p:nvSpPr>
        <p:spPr>
          <a:xfrm>
            <a:off x="301750" y="310900"/>
            <a:ext cx="26982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Introducing GameMatch AI</a:t>
            </a:r>
            <a:endParaRPr/>
          </a:p>
        </p:txBody>
      </p:sp>
      <p:sp>
        <p:nvSpPr>
          <p:cNvPr id="129" name="Google Shape;129;p29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Gamers often face "choice paralysis" when searching for new games.</a:t>
            </a:r>
            <a:endParaRPr/>
          </a:p>
        </p:txBody>
      </p:sp>
      <p:sp>
        <p:nvSpPr>
          <p:cNvPr id="130" name="Google Shape;130;p29"/>
          <p:cNvSpPr txBox="1"/>
          <p:nvPr>
            <p:ph idx="3" type="body"/>
          </p:nvPr>
        </p:nvSpPr>
        <p:spPr>
          <a:xfrm>
            <a:off x="6647122" y="374904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GameMatch AI solves this with a smart recommendation quiz system.</a:t>
            </a:r>
            <a:endParaRPr/>
          </a:p>
        </p:txBody>
      </p:sp>
      <p:sp>
        <p:nvSpPr>
          <p:cNvPr id="131" name="Google Shape;131;p29"/>
          <p:cNvSpPr txBox="1"/>
          <p:nvPr>
            <p:ph idx="4" type="body"/>
          </p:nvPr>
        </p:nvSpPr>
        <p:spPr>
          <a:xfrm>
            <a:off x="6647047" y="1911201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The application processes preferences to suggest a single, perfect match.</a:t>
            </a:r>
            <a:endParaRPr/>
          </a:p>
        </p:txBody>
      </p:sp>
      <p:pic>
        <p:nvPicPr>
          <p:cNvPr id="132" name="Google Shape;132;p29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750" y="2276800"/>
            <a:ext cx="2533200" cy="2532900"/>
          </a:xfrm>
          <a:prstGeom prst="ellipse">
            <a:avLst/>
          </a:prstGeom>
          <a:noFill/>
        </p:spPr>
      </p:pic>
      <p:sp>
        <p:nvSpPr>
          <p:cNvPr id="133" name="Google Shape;133;p29"/>
          <p:cNvSpPr txBox="1"/>
          <p:nvPr>
            <p:ph idx="5" type="body"/>
          </p:nvPr>
        </p:nvSpPr>
        <p:spPr>
          <a:xfrm>
            <a:off x="3739900" y="2093975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GameMatch AI solves this this with a smart recommendation quiz</a:t>
            </a:r>
            <a:endParaRPr/>
          </a:p>
        </p:txBody>
      </p:sp>
      <p:pic>
        <p:nvPicPr>
          <p:cNvPr id="134" name="Google Shape;13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3201" y="1835825"/>
            <a:ext cx="6002297" cy="253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Backend Architecture Overview</a:t>
            </a:r>
            <a:endParaRPr/>
          </a:p>
        </p:txBody>
      </p:sp>
      <p:sp>
        <p:nvSpPr>
          <p:cNvPr id="139" name="Google Shape;139;p30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MySQL database with nearly 600 curated games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Relational tables organize users, games, genres, and platforms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PHP PDO is used to securely connect to the database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Prepared statements prevent SQL injection and enhance security</a:t>
            </a:r>
            <a:endParaRPr/>
          </a:p>
        </p:txBody>
      </p:sp>
      <p:pic>
        <p:nvPicPr>
          <p:cNvPr id="140" name="Google Shape;140;p30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519300"/>
            <a:ext cx="3090600" cy="3090600"/>
          </a:xfrm>
          <a:prstGeom prst="roundRect">
            <a:avLst>
              <a:gd fmla="val 50000" name="adj"/>
            </a:avLst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350350" y="226400"/>
            <a:ext cx="3505500" cy="10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AI Logic: Filter, Score, Sort</a:t>
            </a:r>
            <a:endParaRPr/>
          </a:p>
        </p:txBody>
      </p:sp>
      <p:sp>
        <p:nvSpPr>
          <p:cNvPr id="145" name="Google Shape;145;p31"/>
          <p:cNvSpPr txBox="1"/>
          <p:nvPr>
            <p:ph idx="1" type="body"/>
          </p:nvPr>
        </p:nvSpPr>
        <p:spPr>
          <a:xfrm>
            <a:off x="350350" y="1598500"/>
            <a:ext cx="3505500" cy="33186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System first filters games incompatible with user's device.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Remaining games are scored based on time and mood preferences.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Time Match adds two points; Vibe Match adds three points.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The game with the highest match score is the perfect suggestion.</a:t>
            </a:r>
            <a:endParaRPr/>
          </a:p>
        </p:txBody>
      </p:sp>
      <p:pic>
        <p:nvPicPr>
          <p:cNvPr id="146" name="Google Shape;146;p31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1622" y="226350"/>
            <a:ext cx="4690800" cy="4690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type="title"/>
          </p:nvPr>
        </p:nvSpPr>
        <p:spPr>
          <a:xfrm>
            <a:off x="327575" y="340500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UI/UX Design Stack</a:t>
            </a:r>
            <a:endParaRPr/>
          </a:p>
        </p:txBody>
      </p:sp>
      <p:sp>
        <p:nvSpPr>
          <p:cNvPr id="151" name="Google Shape;151;p32"/>
          <p:cNvSpPr txBox="1"/>
          <p:nvPr>
            <p:ph idx="1" type="body"/>
          </p:nvPr>
        </p:nvSpPr>
        <p:spPr>
          <a:xfrm>
            <a:off x="327575" y="1616646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The visual design uses a dark mode 'Gamer' aesthetic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A dark Slate 900 palette with Violet 500 neon accents creates the theme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Vanilla CSS handles modular styling, responsive grids, and effects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JavaScript manages state and non-reloading smooth quiz transitions</a:t>
            </a:r>
            <a:endParaRPr/>
          </a:p>
        </p:txBody>
      </p:sp>
      <p:pic>
        <p:nvPicPr>
          <p:cNvPr id="152" name="Google Shape;152;p32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/>
          <p:cNvSpPr txBox="1"/>
          <p:nvPr>
            <p:ph type="title"/>
          </p:nvPr>
        </p:nvSpPr>
        <p:spPr>
          <a:xfrm>
            <a:off x="5427950" y="289525"/>
            <a:ext cx="34059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Thank You!</a:t>
            </a:r>
            <a:endParaRPr/>
          </a:p>
        </p:txBody>
      </p:sp>
      <p:sp>
        <p:nvSpPr>
          <p:cNvPr id="157" name="Google Shape;157;p33"/>
          <p:cNvSpPr txBox="1"/>
          <p:nvPr>
            <p:ph idx="1" type="body"/>
          </p:nvPr>
        </p:nvSpPr>
        <p:spPr>
          <a:xfrm>
            <a:off x="5427950" y="1565672"/>
            <a:ext cx="34059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Visit GameMatch AI to find your perfect game.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Developed by Ander, Oihan, Julen, Liss, and Sanne.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Thank you for your time, we are open to questions.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Please connect with us and see the code on GitHub.</a:t>
            </a:r>
            <a:endParaRPr/>
          </a:p>
        </p:txBody>
      </p:sp>
      <p:pic>
        <p:nvPicPr>
          <p:cNvPr id="158" name="Google Shape;158;p33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arterly business review">
  <a:themeElements>
    <a:clrScheme name="Simple Light">
      <a:dk1>
        <a:srgbClr val="131313"/>
      </a:dk1>
      <a:lt1>
        <a:srgbClr val="FAFAFA"/>
      </a:lt1>
      <a:dk2>
        <a:srgbClr val="B5B5B7"/>
      </a:dk2>
      <a:lt2>
        <a:srgbClr val="EAE1E2"/>
      </a:lt2>
      <a:accent1>
        <a:srgbClr val="7D57AE"/>
      </a:accent1>
      <a:accent2>
        <a:srgbClr val="E8C8C7"/>
      </a:accent2>
      <a:accent3>
        <a:srgbClr val="2F5C7C"/>
      </a:accent3>
      <a:accent4>
        <a:srgbClr val="DECEE8"/>
      </a:accent4>
      <a:accent5>
        <a:srgbClr val="B0BFDE"/>
      </a:accent5>
      <a:accent6>
        <a:srgbClr val="DDEAFB"/>
      </a:accent6>
      <a:hlink>
        <a:srgbClr val="2F5C7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